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Space Grotesk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7" Type="http://schemas.openxmlformats.org/officeDocument/2006/relationships/font" Target="fonts/c502a11b-0645-4d14-8e3e-39e91489d12f.fntdata" /><ns0:Relationship Id="rIdFont18" Type="http://schemas.openxmlformats.org/officeDocument/2006/relationships/font" Target="fonts/3152c8e1-3f86-47d4-8248-554e87a5226f.fntdata" /><ns0:Relationship Id="rIdFont19" Type="http://schemas.openxmlformats.org/officeDocument/2006/relationships/font" Target="fonts/fdfa60bb-b7dd-4125-89f0-80533eaf14aa.fntdata" /><ns0:Relationship Id="rIdFont20" Type="http://schemas.openxmlformats.org/officeDocument/2006/relationships/font" Target="fonts/f05bf250-bb86-42e2-854c-1e8d6da3263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11848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517427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Space Grotesk"/>
              </a:rPr>
              <a:t>CYBERSECURITY EDUCATION MODULE • PREPARED BY MD KAMIL HASHMI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41277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Phishing Awareness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45098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Recognizing digital threats, social engineering tactics, and defense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430660"/>
            <a:ext cx="51816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3840360"/>
            <a:ext cx="51816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Understanding the Threat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02160"/>
            <a:ext cx="64770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b="1" sz="8400" i="0" u="none">
                <a:solidFill>
                  <a:srgbClr val="0F172A"/>
                </a:solidFill>
                <a:latin typeface="Space Grotesk"/>
              </a:rPr>
              <a:t>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21360"/>
            <a:ext cx="6477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Of cyber attacks begin with a phishing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59260"/>
            <a:ext cx="5562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Deceptive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983110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Attackers impersonate trusted entities to steal credentials.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068960"/>
            <a:ext cx="5562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Human Vulnerability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392810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Exploits trust, fear, and urgency rather than software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7860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87860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87860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5456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54560"/>
            <a:ext cx="2762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154560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Recognizing Phishing Emails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7366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False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9751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Demands immediate action or account suspension.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57366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Mismatched Senders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9751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Subtle domain spelling errors or forged headers.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573660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Suspicious Attachments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9751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Unsolicited invoices or macro-enabled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51470"/>
            <a:ext cx="5334000" cy="5349329"/>
          </a:xfrm>
          <a:prstGeom prst="roundRect">
            <a:avLst>
              <a:gd name="adj" fmla="val 214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051470"/>
            <a:ext cx="5334000" cy="5349329"/>
          </a:xfrm>
          <a:prstGeom prst="roundRect">
            <a:avLst>
              <a:gd name="adj" fmla="val 214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Spotting Fake Websites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87885"/>
            <a:ext cx="61007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Space Grotesk"/>
              </a:rPr>
              <a:t>Legitimate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1300" y="2987873"/>
            <a:ext cx="5600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91B1B"/>
                </a:solidFill>
                <a:latin typeface="Space Grotesk"/>
              </a:rPr>
              <a:t>Phishing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521273"/>
            <a:ext cx="9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5803D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35560"/>
            <a:ext cx="5572125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Inter"/>
              </a:rPr>
              <a:t>HTTPS Encryption:</a:t>
            </a:r>
            <a:r>
              <a:rPr b="0" sz="1350" i="0" u="none">
                <a:solidFill>
                  <a:srgbClr val="15803D"/>
                </a:solidFill>
                <a:latin typeface="Inter"/>
              </a:rPr>
              <a:t> Valid secure padlock 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835598"/>
            <a:ext cx="9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5803D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9885"/>
            <a:ext cx="5572125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Inter"/>
              </a:rPr>
              <a:t>Exact Spelling:</a:t>
            </a:r>
            <a:r>
              <a:rPr b="0" sz="1350" i="0" u="none">
                <a:solidFill>
                  <a:srgbClr val="15803D"/>
                </a:solidFill>
                <a:latin typeface="Inter"/>
              </a:rPr>
              <a:t> Official brand domain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4149923"/>
            <a:ext cx="9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5803D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64210"/>
            <a:ext cx="5572125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Inter"/>
              </a:rPr>
              <a:t>Clean Interface:</a:t>
            </a:r>
            <a:r>
              <a:rPr b="0" sz="1350" i="0" u="none">
                <a:solidFill>
                  <a:srgbClr val="15803D"/>
                </a:solidFill>
                <a:latin typeface="Inter"/>
              </a:rPr>
              <a:t> Professional design and typography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421260"/>
            <a:ext cx="9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B91C1C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435548"/>
            <a:ext cx="4552950" cy="4000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91C1C"/>
                </a:solidFill>
                <a:latin typeface="Inter"/>
              </a:rPr>
              <a:t>Typosquatting:</a:t>
            </a:r>
            <a:r>
              <a:rPr b="0" sz="1350" i="0" u="none">
                <a:solidFill>
                  <a:srgbClr val="B91C1C"/>
                </a:solidFill>
                <a:latin typeface="Inter"/>
              </a:rPr>
              <a:t> Subtle misspellings (e.g., mic0soft.com)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550" y="3935610"/>
            <a:ext cx="9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B91C1C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949898"/>
            <a:ext cx="5410200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91C1C"/>
                </a:solidFill>
                <a:latin typeface="Inter"/>
              </a:rPr>
              <a:t>Missing Security:</a:t>
            </a:r>
            <a:r>
              <a:rPr b="0" sz="1350" i="0" u="none">
                <a:solidFill>
                  <a:srgbClr val="B91C1C"/>
                </a:solidFill>
                <a:latin typeface="Inter"/>
              </a:rPr>
              <a:t> Insecure HTTP protocol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6550" y="4249935"/>
            <a:ext cx="95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B91C1C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264223"/>
            <a:ext cx="5410200" cy="20002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91C1C"/>
                </a:solidFill>
                <a:latin typeface="Inter"/>
              </a:rPr>
              <a:t>Prompt Redirection:</a:t>
            </a:r>
            <a:r>
              <a:rPr b="0" sz="1350" i="0" u="none">
                <a:solidFill>
                  <a:srgbClr val="B91C1C"/>
                </a:solidFill>
                <a:latin typeface="Inter"/>
              </a:rPr>
              <a:t> Unexpected login popups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5973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25973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25973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25973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Social Engineering Tactics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54573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TACTIC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502223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797498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Act before it is too 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25" y="3254573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TACTIC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025" y="3502223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3797498"/>
            <a:ext cx="2238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Impersonating executives or IT staff.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3254573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TACTIC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502223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Fear &amp; Coercion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797498"/>
            <a:ext cx="2238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Threatening legal or punitive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675" y="3254573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TACTIC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0675" y="3502223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Curiosity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797498"/>
            <a:ext cx="2238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Prizes, bonuses, and exclusive offers.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51470"/>
            <a:ext cx="5334000" cy="5349329"/>
          </a:xfrm>
          <a:prstGeom prst="roundRect">
            <a:avLst>
              <a:gd name="adj" fmla="val 2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051470"/>
            <a:ext cx="5334000" cy="5349329"/>
          </a:xfrm>
          <a:prstGeom prst="roundRect">
            <a:avLst>
              <a:gd name="adj" fmla="val 2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Real-World Attack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06923"/>
            <a:ext cx="5905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CASE STUDY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4573"/>
            <a:ext cx="62007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The CEO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73673"/>
            <a:ext cx="48196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An attacker spoofs the Chief Executive's email address instructing finance to wire funds urgently. Staff comply without secondary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006923"/>
            <a:ext cx="5638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CASE STUDY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254573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Credential Harvesting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673673"/>
            <a:ext cx="48196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Fake Microsoft 365 login notification alerts users that storage is full. Users enter credentials on a cloned login page, compromising accounts.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51470"/>
            <a:ext cx="5334000" cy="5349329"/>
          </a:xfrm>
          <a:prstGeom prst="roundRect">
            <a:avLst>
              <a:gd name="adj" fmla="val 2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051470"/>
            <a:ext cx="5334000" cy="5349329"/>
          </a:xfrm>
          <a:prstGeom prst="roundRect">
            <a:avLst>
              <a:gd name="adj" fmla="val 2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Real-World Attack Scenarios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06923"/>
            <a:ext cx="5905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CASE STUDY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4573"/>
            <a:ext cx="62007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The Fake IT Helpdesk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73673"/>
            <a:ext cx="48196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Attackers combine phishing emails with phone calls pretending to be internal IT staff, guiding targets to install remote access tools under false pretenses.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006923"/>
            <a:ext cx="5638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254573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Multi-Vector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673673"/>
            <a:ext cx="48196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Modern attackers frequently blend email, SMS (smishing), and phone calls to bypass defensive instincts and build false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7860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87860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87860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5456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5456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15456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Best Practices to Stay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7366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Enable MFA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9751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Multi-factor authentication stops credential theft.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573660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Verify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9751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Hover before clicking to inspect true URLs.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573660"/>
            <a:ext cx="38481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Out-of-Band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97510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Confirm unusual requests via separate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06760"/>
            <a:ext cx="109728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35460"/>
            <a:ext cx="109728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64160"/>
            <a:ext cx="109728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92860"/>
            <a:ext cx="10972800" cy="914400"/>
          </a:xfrm>
          <a:prstGeom prst="roundRect">
            <a:avLst>
              <a:gd name="adj" fmla="val 104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21353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53150" y="21353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" y="31640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150" y="31640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100" y="41927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150" y="41927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" y="52214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150" y="5221485"/>
            <a:ext cx="5238750" cy="333375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Knowledge Check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859160"/>
            <a:ext cx="11391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1. Urgent email from HR demanding immediate password reset. What should you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887860"/>
            <a:ext cx="11391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2. What indicates a secure and legitimate website?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916560"/>
            <a:ext cx="11391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3. Which of these is a common social engineering tactic?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945260"/>
            <a:ext cx="11391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4. How can you effectively stop credential theft?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221110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A. Click link and update quickly.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975" y="2221110"/>
            <a:ext cx="5915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B. Report phishing and contact HR.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249810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A. HTTPS encryption &amp; exact spelling.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975" y="3249810"/>
            <a:ext cx="5915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B. Popups asking for immediate credentials.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278510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A. Automated software patching.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4278510"/>
            <a:ext cx="5915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B. Creating false urgency and fear.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5307210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A. Enable Multi-Factor Authentication (MFA).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975" y="5307210"/>
            <a:ext cx="5915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B. Reuse the same password everywhere.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